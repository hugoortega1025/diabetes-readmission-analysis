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504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github.com/Hugoortega1025/diabetes-readmission-analysi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A8C7"/>
          </a:solidFill>
          <a:ln w="12700">
            <a:solidFill>
              <a:srgbClr val="02A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1005840"/>
            <a:ext cx="6217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Hospital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Analysis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502920" y="28346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2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Early Readmission Risk in Diabetic Patients</a:t>
            </a:r>
            <a:endParaRPr lang="en-US" sz="16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02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SQL + Machine Learning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5262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Ortega-Morales  ·  Databricks  ·  SQL  ·  Python  ·  Scikit-learn  ·  SHAP</a:t>
            </a:r>
            <a:endParaRPr lang="en-US" sz="13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17B1E65-7CA4-4344-944F-E9FF17B6D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741" y="275168"/>
            <a:ext cx="2946939" cy="18762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2560320"/>
          </a:xfrm>
          <a:prstGeom prst="rect">
            <a:avLst/>
          </a:prstGeom>
          <a:solidFill>
            <a:srgbClr val="E8F4F8"/>
          </a:solidFill>
          <a:ln w="25400">
            <a:solidFill>
              <a:srgbClr val="02A8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diabetic patients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readmitted within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00584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readmissions suggest treatment failure.
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face financial penalties under the </a:t>
            </a: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Readmissions Reduction Program (HRRP)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excessive 30-day readmissions — making this both costly and a patient care issue.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0" y="2560320"/>
            <a:ext cx="5577840" cy="100584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26060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risk flagging system that identifies high-risk diabetic profiles using clinical data available at the time of their hospital encounter.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101,766 encounters · 130 US hospitals · 1999–2008 · UCI ML Repository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06040" cy="1463040"/>
          </a:xfrm>
          <a:prstGeom prst="rect">
            <a:avLst/>
          </a:prstGeom>
          <a:solidFill>
            <a:srgbClr val="E8F4F8"/>
          </a:solidFill>
          <a:ln w="19050">
            <a:solidFill>
              <a:srgbClr val="02A8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02920" cy="146304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502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1143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Exploration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14630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CTEs, GROUP BY, CASE WHEN, HAVING across 9 analytical steps in Databricks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606040" cy="1463040"/>
          </a:xfrm>
          <a:prstGeom prst="rect">
            <a:avLst/>
          </a:prstGeom>
          <a:solidFill>
            <a:srgbClr val="E8F4F8"/>
          </a:solidFill>
          <a:ln w="19050">
            <a:solidFill>
              <a:srgbClr val="02A8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502920" cy="146304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1005840"/>
            <a:ext cx="502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21608" y="1143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21608" y="14630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for categorical variables; Point Biserial Correlation for continuous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2606040" cy="1463040"/>
          </a:xfrm>
          <a:prstGeom prst="rect">
            <a:avLst/>
          </a:prstGeom>
          <a:solidFill>
            <a:srgbClr val="E8F4F8"/>
          </a:solidFill>
          <a:ln w="19050">
            <a:solidFill>
              <a:srgbClr val="02A8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89320" y="1005840"/>
            <a:ext cx="502920" cy="146304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89320" y="1005840"/>
            <a:ext cx="502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56248" y="1143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6248" y="14630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→ GridSearchCV hyperparameter tuning → Random Forest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2606040" cy="1463040"/>
          </a:xfrm>
          <a:prstGeom prst="rect">
            <a:avLst/>
          </a:prstGeom>
          <a:solidFill>
            <a:srgbClr val="E8F4F8"/>
          </a:solidFill>
          <a:ln w="19050">
            <a:solidFill>
              <a:srgbClr val="02A8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502920" cy="146304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788920"/>
            <a:ext cx="502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" y="29260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968" y="32461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 to explain model predictions for clinical teams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788920"/>
            <a:ext cx="2606040" cy="1463040"/>
          </a:xfrm>
          <a:prstGeom prst="rect">
            <a:avLst/>
          </a:prstGeom>
          <a:solidFill>
            <a:srgbClr val="E8F4F8"/>
          </a:solidFill>
          <a:ln w="19050">
            <a:solidFill>
              <a:srgbClr val="02A8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54680" y="2788920"/>
            <a:ext cx="502920" cy="146304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54680" y="2788920"/>
            <a:ext cx="502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21608" y="29260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Flagging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21608" y="32461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system converting model scores into actionable patient flags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5266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34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94162" y="780633"/>
            <a:ext cx="4069080" cy="1417320"/>
          </a:xfrm>
          <a:prstGeom prst="rect">
            <a:avLst/>
          </a:prstGeom>
          <a:solidFill>
            <a:srgbClr val="E8F4F8"/>
          </a:solidFill>
          <a:ln w="19050">
            <a:solidFill>
              <a:srgbClr val="02A8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2788" y="780633"/>
            <a:ext cx="109728" cy="1417320"/>
          </a:xfrm>
          <a:prstGeom prst="rect">
            <a:avLst/>
          </a:prstGeom>
          <a:solidFill>
            <a:srgbClr val="02A8C7"/>
          </a:solidFill>
          <a:ln w="12700">
            <a:solidFill>
              <a:srgbClr val="02A8C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7042" y="826353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Inpatient Visits — Dominant Predictor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9021" y="1146393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 rises from 8% (0 prior visits) to 44% (8+ visits) — a 5x increase. SHAP confirms this as the single most influential feature, dwarfing all others.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5535" y="2257111"/>
            <a:ext cx="4062269" cy="1417320"/>
          </a:xfrm>
          <a:prstGeom prst="rect">
            <a:avLst/>
          </a:prstGeom>
          <a:solidFill>
            <a:srgbClr val="E8F4F8"/>
          </a:solidFill>
          <a:ln w="19050">
            <a:solidFill>
              <a:srgbClr val="02A8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8725" y="2257111"/>
            <a:ext cx="109729" cy="141732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605" y="2302831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High-Risk Profiles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605" y="2622871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patients (60–80) with multiple prior admissions on insulin show 20–28% rates. Young adults (20–30) show elevated rates (14.2%) unexplained by clinical features — likely complex factors outside the scope of the dataset.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4747" y="3704109"/>
            <a:ext cx="4069080" cy="1417320"/>
          </a:xfrm>
          <a:prstGeom prst="rect">
            <a:avLst/>
          </a:prstGeom>
          <a:solidFill>
            <a:srgbClr val="E8F4F8"/>
          </a:solidFill>
          <a:ln w="19050">
            <a:solidFill>
              <a:srgbClr val="02A8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4747" y="3697291"/>
            <a:ext cx="109728" cy="141732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9606" y="3743011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Flagging System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7627" y="4063051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achieves 64% AUC. At 0.40 threshold the flagging system catches 85% of actual readmissions. Precision is limited — additional data is needed for clinical deployment.</a:t>
            </a:r>
            <a:endParaRPr lang="en-US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D8803-DEC3-17AA-9D6A-9020B31C2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591" y="777239"/>
            <a:ext cx="3948810" cy="389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A8C7"/>
          </a:solidFill>
          <a:ln w="12700">
            <a:solidFill>
              <a:srgbClr val="02A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3210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A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252728"/>
            <a:ext cx="502920" cy="502920"/>
          </a:xfrm>
          <a:prstGeom prst="ellipse">
            <a:avLst/>
          </a:prstGeom>
          <a:solidFill>
            <a:srgbClr val="02A8C7"/>
          </a:solidFill>
          <a:ln w="12700">
            <a:solidFill>
              <a:srgbClr val="02A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52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124712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patients with 2+ prior inpatient visits for further discharge planning — regardless of model output. This is the strongest and most actionable finding.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240280"/>
            <a:ext cx="83210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A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2441448"/>
            <a:ext cx="502920" cy="502920"/>
          </a:xfrm>
          <a:prstGeom prst="ellipse">
            <a:avLst/>
          </a:prstGeom>
          <a:solidFill>
            <a:srgbClr val="02A8C7"/>
          </a:solidFill>
          <a:ln w="12700">
            <a:solidFill>
              <a:srgbClr val="02A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313432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richer data: social determinants of health, medication compliance, and post-discharge data are needed to push model performance above 64% AUC.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429000"/>
            <a:ext cx="83210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A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3630168"/>
            <a:ext cx="502920" cy="502920"/>
          </a:xfrm>
          <a:prstGeom prst="ellipse">
            <a:avLst/>
          </a:prstGeom>
          <a:solidFill>
            <a:srgbClr val="02A8C7"/>
          </a:solidFill>
          <a:ln w="12700">
            <a:solidFill>
              <a:srgbClr val="02A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630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502152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risk score system more as a tool, not a standalone decision. Scores above 0.40 should instigate clinician review, not automatic intervention.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100" i="1" dirty="0">
                <a:solidFill>
                  <a:srgbClr val="02A8C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github.com/Hugoortega1025/diabetes-readmission-analysis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407</Words>
  <Application>Microsoft Macintosh PowerPoint</Application>
  <PresentationFormat>On-screen Show (16:9)</PresentationFormat>
  <Paragraphs>49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Hospital Readmission Analysis</dc:title>
  <dc:subject>PptxGenJS Presentation</dc:subject>
  <dc:creator>PptxGenJS</dc:creator>
  <cp:lastModifiedBy>Ortega-Morales, Hugo</cp:lastModifiedBy>
  <cp:revision>2</cp:revision>
  <dcterms:created xsi:type="dcterms:W3CDTF">2026-04-09T00:31:27Z</dcterms:created>
  <dcterms:modified xsi:type="dcterms:W3CDTF">2026-04-09T01:03:52Z</dcterms:modified>
</cp:coreProperties>
</file>